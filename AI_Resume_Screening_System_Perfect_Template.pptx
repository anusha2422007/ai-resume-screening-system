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0382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" TargetMode="External"/><Relationship Id="rId7" Type="http://schemas.openxmlformats.org/officeDocument/2006/relationships/hyperlink" Target="https://developer.mozilla.org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ypdf.readthedocs.io/" TargetMode="External"/><Relationship Id="rId5" Type="http://schemas.openxmlformats.org/officeDocument/2006/relationships/hyperlink" Target="https://www.sqlite.org/docs.html" TargetMode="External"/><Relationship Id="rId4" Type="http://schemas.openxmlformats.org/officeDocument/2006/relationships/hyperlink" Target="https://flask.palletsprojects.com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C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54680"/>
            <a:ext cx="237744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811512" y="3154680"/>
            <a:ext cx="237744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91681" y="888274"/>
            <a:ext cx="10198359" cy="50292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76873" y="1051560"/>
            <a:ext cx="9153331" cy="4754880"/>
          </a:xfrm>
          <a:prstGeom prst="rect">
            <a:avLst/>
          </a:prstGeom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2560320" y="1280160"/>
            <a:ext cx="70683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3400" b="1">
                <a:solidFill>
                  <a:srgbClr val="3A2E27"/>
                </a:solidFill>
                <a:latin typeface="Cambria"/>
              </a:rPr>
              <a:t>INTERNSHIP REPORT &amp; PROJECT REVIEW-1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651760" y="2834640"/>
            <a:ext cx="6885432" cy="0"/>
          </a:xfrm>
          <a:prstGeom prst="line">
            <a:avLst/>
          </a:prstGeom>
          <a:noFill/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576873" y="3017520"/>
            <a:ext cx="9038253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sz="1800" b="1" dirty="0">
                <a:solidFill>
                  <a:srgbClr val="D90000"/>
                </a:solidFill>
                <a:latin typeface="Cambria"/>
              </a:rPr>
              <a:t>Project: AI Resume Screening System</a:t>
            </a:r>
            <a:endParaRPr lang="en-US" sz="1800" dirty="0"/>
          </a:p>
          <a:p>
            <a:pPr algn="ctr">
              <a:spcAft>
                <a:spcPts val="1200"/>
              </a:spcAft>
            </a:pPr>
            <a:r>
              <a:rPr sz="1800" b="1" dirty="0">
                <a:solidFill>
                  <a:srgbClr val="3A2E27"/>
                </a:solidFill>
                <a:latin typeface="Cambria"/>
              </a:rPr>
              <a:t>Internship Period: [</a:t>
            </a:r>
            <a:r>
              <a:rPr lang="en-IN" b="1" dirty="0">
                <a:solidFill>
                  <a:srgbClr val="3A2E27"/>
                </a:solidFill>
                <a:latin typeface="Cambria"/>
              </a:rPr>
              <a:t>18-05-2026</a:t>
            </a:r>
            <a:r>
              <a:rPr sz="1800" b="1" dirty="0">
                <a:solidFill>
                  <a:srgbClr val="3A2E27"/>
                </a:solidFill>
                <a:latin typeface="Cambria"/>
              </a:rPr>
              <a:t>] to [</a:t>
            </a:r>
            <a:r>
              <a:rPr lang="en-IN" b="1" dirty="0">
                <a:solidFill>
                  <a:srgbClr val="3A2E27"/>
                </a:solidFill>
                <a:latin typeface="Cambria"/>
              </a:rPr>
              <a:t>17-07-2026</a:t>
            </a:r>
            <a:r>
              <a:rPr sz="1800" b="1" dirty="0">
                <a:solidFill>
                  <a:srgbClr val="3A2E27"/>
                </a:solidFill>
                <a:latin typeface="Cambria"/>
              </a:rPr>
              <a:t>]</a:t>
            </a:r>
          </a:p>
          <a:p>
            <a:pPr algn="ctr">
              <a:spcAft>
                <a:spcPts val="1200"/>
              </a:spcAft>
            </a:pPr>
            <a:r>
              <a:rPr lang="en-IN" b="1" dirty="0">
                <a:solidFill>
                  <a:srgbClr val="3A2E27"/>
                </a:solidFill>
                <a:latin typeface="Cambria"/>
              </a:rPr>
              <a:t>[B . </a:t>
            </a:r>
            <a:r>
              <a:rPr lang="en-IN" b="1" dirty="0" err="1">
                <a:solidFill>
                  <a:srgbClr val="3A2E27"/>
                </a:solidFill>
                <a:latin typeface="Cambria"/>
              </a:rPr>
              <a:t>Chennakesavulu</a:t>
            </a:r>
            <a:r>
              <a:rPr lang="en-IN" b="1" dirty="0">
                <a:solidFill>
                  <a:srgbClr val="3A2E27"/>
                </a:solidFill>
                <a:latin typeface="Cambria"/>
              </a:rPr>
              <a:t>]</a:t>
            </a:r>
            <a:r>
              <a:rPr sz="1800" b="1" dirty="0">
                <a:solidFill>
                  <a:srgbClr val="3A2E27"/>
                </a:solidFill>
                <a:latin typeface="Cambria"/>
              </a:rPr>
              <a:t> – [</a:t>
            </a:r>
            <a:r>
              <a:rPr lang="en-IN" b="1" dirty="0">
                <a:solidFill>
                  <a:srgbClr val="3A2E27"/>
                </a:solidFill>
                <a:latin typeface="Cambria"/>
              </a:rPr>
              <a:t>24691A2838</a:t>
            </a:r>
            <a:r>
              <a:rPr sz="1800" b="1" dirty="0">
                <a:solidFill>
                  <a:srgbClr val="3A2E27"/>
                </a:solidFill>
                <a:latin typeface="Cambria"/>
              </a:rPr>
              <a:t>] – III CST Sec </a:t>
            </a:r>
            <a:r>
              <a:rPr lang="en-IN" b="1" dirty="0">
                <a:solidFill>
                  <a:srgbClr val="3A2E27"/>
                </a:solidFill>
                <a:latin typeface="Cambria"/>
              </a:rPr>
              <a:t>A</a:t>
            </a:r>
            <a:endParaRPr sz="1800" b="1" dirty="0">
              <a:solidFill>
                <a:srgbClr val="3A2E27"/>
              </a:solidFill>
              <a:latin typeface="Cambria"/>
            </a:endParaRPr>
          </a:p>
          <a:p>
            <a:pPr algn="ctr">
              <a:spcAft>
                <a:spcPts val="1200"/>
              </a:spcAft>
            </a:pPr>
            <a:r>
              <a:rPr sz="1800" b="1" dirty="0">
                <a:solidFill>
                  <a:srgbClr val="3A2E27"/>
                </a:solidFill>
                <a:latin typeface="Cambria"/>
              </a:rPr>
              <a:t>Review Date: [</a:t>
            </a:r>
            <a:r>
              <a:rPr lang="en-IN" b="1" dirty="0">
                <a:solidFill>
                  <a:srgbClr val="3A2E27"/>
                </a:solidFill>
                <a:latin typeface="Cambria"/>
              </a:rPr>
              <a:t>21-10-2026</a:t>
            </a:r>
            <a:r>
              <a:rPr sz="1800" b="1" dirty="0">
                <a:solidFill>
                  <a:srgbClr val="3A2E27"/>
                </a:solidFill>
                <a:latin typeface="Cambria"/>
              </a:rPr>
              <a:t>]</a:t>
            </a:r>
          </a:p>
          <a:p>
            <a:pPr algn="ctr">
              <a:spcAft>
                <a:spcPts val="1200"/>
              </a:spcAft>
            </a:pPr>
            <a:r>
              <a:rPr sz="1800" b="1" dirty="0">
                <a:solidFill>
                  <a:srgbClr val="3A2E27"/>
                </a:solidFill>
                <a:latin typeface="Cambria"/>
              </a:rPr>
              <a:t>Internship Mentor: [</a:t>
            </a:r>
            <a:r>
              <a:rPr lang="en-IN" b="1" dirty="0">
                <a:solidFill>
                  <a:srgbClr val="3A2E27"/>
                </a:solidFill>
                <a:latin typeface="Cambria"/>
              </a:rPr>
              <a:t>Mr . M . Shankar, </a:t>
            </a:r>
            <a:r>
              <a:rPr lang="en-IN" sz="1600" dirty="0">
                <a:solidFill>
                  <a:srgbClr val="3A2E27"/>
                </a:solidFill>
                <a:latin typeface="Cambria"/>
              </a:rPr>
              <a:t>Asst. Professor of CST</a:t>
            </a:r>
            <a:r>
              <a:rPr lang="en-IN" dirty="0">
                <a:solidFill>
                  <a:srgbClr val="3A2E27"/>
                </a:solidFill>
                <a:latin typeface="Cambria"/>
              </a:rPr>
              <a:t> </a:t>
            </a:r>
            <a:r>
              <a:rPr sz="1800" b="1" dirty="0">
                <a:solidFill>
                  <a:srgbClr val="3A2E27"/>
                </a:solidFill>
                <a:latin typeface="Cambria"/>
              </a:rPr>
              <a:t>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3C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tab"/>
          <p:cNvSpPr/>
          <p:nvPr/>
        </p:nvSpPr>
        <p:spPr>
          <a:xfrm>
            <a:off x="0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ight tab"/>
          <p:cNvSpPr/>
          <p:nvPr/>
        </p:nvSpPr>
        <p:spPr>
          <a:xfrm>
            <a:off x="11503152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Card"/>
          <p:cNvSpPr/>
          <p:nvPr/>
        </p:nvSpPr>
        <p:spPr>
          <a:xfrm>
            <a:off x="502920" y="411480"/>
            <a:ext cx="11183112" cy="6035040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Border"/>
          <p:cNvSpPr/>
          <p:nvPr/>
        </p:nvSpPr>
        <p:spPr>
          <a:xfrm>
            <a:off x="640080" y="548640"/>
            <a:ext cx="10908792" cy="5760720"/>
          </a:xfrm>
          <a:prstGeom prst="rect">
            <a:avLst/>
          </a:prstGeom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itle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3800" b="1">
                <a:solidFill>
                  <a:srgbClr val="D90000"/>
                </a:solidFill>
                <a:latin typeface="Cambria"/>
              </a:rPr>
              <a:t>About Industry / Organization Details</a:t>
            </a:r>
            <a:endParaRPr lang="en-US" sz="3800" dirty="0"/>
          </a:p>
        </p:txBody>
      </p:sp>
      <p:sp>
        <p:nvSpPr>
          <p:cNvPr id="7" name="Title rule"/>
          <p:cNvSpPr/>
          <p:nvPr/>
        </p:nvSpPr>
        <p:spPr>
          <a:xfrm>
            <a:off x="1188720" y="1783080"/>
            <a:ext cx="9811512" cy="0"/>
          </a:xfrm>
          <a:prstGeom prst="line">
            <a:avLst/>
          </a:prstGeom>
          <a:noFill/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Body"/>
          <p:cNvSpPr txBox="1"/>
          <p:nvPr/>
        </p:nvSpPr>
        <p:spPr>
          <a:xfrm>
            <a:off x="1188720" y="2057400"/>
            <a:ext cx="981151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2200" b="1" dirty="0">
                <a:solidFill>
                  <a:srgbClr val="2B2B2B"/>
                </a:solidFill>
                <a:latin typeface="Cambria"/>
              </a:rPr>
              <a:t>Organization name: [</a:t>
            </a:r>
            <a:r>
              <a:rPr lang="en-IN" sz="2200" dirty="0">
                <a:solidFill>
                  <a:srgbClr val="2B2B2B"/>
                </a:solidFill>
                <a:latin typeface="Cambria"/>
              </a:rPr>
              <a:t>MOTHERSON automotive technologies</a:t>
            </a:r>
            <a:r>
              <a:rPr sz="2200" b="1" dirty="0">
                <a:solidFill>
                  <a:srgbClr val="2B2B2B"/>
                </a:solidFill>
                <a:latin typeface="Cambria"/>
              </a:rPr>
              <a:t>]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2200" b="1" dirty="0">
                <a:solidFill>
                  <a:srgbClr val="2B2B2B"/>
                </a:solidFill>
                <a:latin typeface="Cambria"/>
              </a:rPr>
              <a:t>What it does: </a:t>
            </a:r>
            <a:r>
              <a:rPr lang="en-IN" sz="2200" b="1" dirty="0">
                <a:solidFill>
                  <a:srgbClr val="2B2B2B"/>
                </a:solidFill>
                <a:latin typeface="Cambria"/>
              </a:rPr>
              <a:t>[</a:t>
            </a:r>
            <a:r>
              <a:rPr lang="en-IN" sz="2400" dirty="0" err="1"/>
              <a:t>Motherson</a:t>
            </a:r>
            <a:r>
              <a:rPr lang="en-IN" sz="2400" dirty="0"/>
              <a:t> Technology Services Limited is a public, non‑government technology and industrial solutions company within the </a:t>
            </a:r>
            <a:r>
              <a:rPr lang="en-IN" sz="2400" dirty="0" err="1"/>
              <a:t>Motherson</a:t>
            </a:r>
            <a:r>
              <a:rPr lang="en-IN" sz="2400" dirty="0"/>
              <a:t> Group, offering digital, cloud, AI, and IT services while also being legally classified under security‑dealing activities as per MCA filings.</a:t>
            </a:r>
            <a:r>
              <a:rPr lang="en-US" sz="3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</a:rPr>
              <a:t>]</a:t>
            </a:r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Address:</a:t>
            </a:r>
            <a:r>
              <a:rPr lang="en-US" sz="19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r>
              <a:rPr lang="en-IN" sz="2400" dirty="0"/>
              <a:t>4th Floor, Wing C, Tower 3, </a:t>
            </a:r>
            <a:r>
              <a:rPr lang="en-IN" sz="2400" dirty="0" err="1"/>
              <a:t>Casagrand</a:t>
            </a:r>
            <a:r>
              <a:rPr lang="en-IN" sz="2400" dirty="0"/>
              <a:t> </a:t>
            </a:r>
            <a:r>
              <a:rPr lang="en-IN" sz="2400" dirty="0" err="1"/>
              <a:t>Ecotech</a:t>
            </a:r>
            <a:r>
              <a:rPr lang="en-IN" sz="2400" dirty="0"/>
              <a:t>, 475‑A, Wipro Street, Sholinganallur, Chennai – 600119, Tamil Nadu</a:t>
            </a:r>
            <a:r>
              <a:rPr lang="en-US" sz="3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3200" dirty="0"/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200" b="1" dirty="0">
                <a:solidFill>
                  <a:srgbClr val="2B2B2B"/>
                </a:solidFill>
                <a:latin typeface="Cambria"/>
              </a:rPr>
              <a:t>Project domain: </a:t>
            </a:r>
            <a:r>
              <a:rPr sz="2200" dirty="0">
                <a:solidFill>
                  <a:srgbClr val="2B2B2B"/>
                </a:solidFill>
                <a:latin typeface="Cambria"/>
              </a:rPr>
              <a:t>Web Development and Resume Screening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200" b="1" dirty="0">
                <a:solidFill>
                  <a:srgbClr val="2B2B2B"/>
                </a:solidFill>
                <a:latin typeface="Cambria"/>
              </a:rPr>
              <a:t>Project type: </a:t>
            </a:r>
            <a:r>
              <a:rPr sz="2200" dirty="0">
                <a:solidFill>
                  <a:srgbClr val="2B2B2B"/>
                </a:solidFill>
                <a:latin typeface="Cambria"/>
              </a:rPr>
              <a:t>Flask-based web application for initial resume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C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tab"/>
          <p:cNvSpPr/>
          <p:nvPr/>
        </p:nvSpPr>
        <p:spPr>
          <a:xfrm>
            <a:off x="0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ight tab"/>
          <p:cNvSpPr/>
          <p:nvPr/>
        </p:nvSpPr>
        <p:spPr>
          <a:xfrm>
            <a:off x="11503152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Card"/>
          <p:cNvSpPr/>
          <p:nvPr/>
        </p:nvSpPr>
        <p:spPr>
          <a:xfrm>
            <a:off x="502920" y="411480"/>
            <a:ext cx="11183112" cy="6035040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Border"/>
          <p:cNvSpPr/>
          <p:nvPr/>
        </p:nvSpPr>
        <p:spPr>
          <a:xfrm>
            <a:off x="640080" y="548640"/>
            <a:ext cx="10908792" cy="5760720"/>
          </a:xfrm>
          <a:prstGeom prst="rect">
            <a:avLst/>
          </a:prstGeom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itle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9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Certificate</a:t>
            </a:r>
            <a:endParaRPr lang="en-US" sz="3800" dirty="0"/>
          </a:p>
        </p:txBody>
      </p:sp>
      <p:sp>
        <p:nvSpPr>
          <p:cNvPr id="7" name="Title rule"/>
          <p:cNvSpPr/>
          <p:nvPr/>
        </p:nvSpPr>
        <p:spPr>
          <a:xfrm>
            <a:off x="1188720" y="1637522"/>
            <a:ext cx="9811512" cy="0"/>
          </a:xfrm>
          <a:prstGeom prst="line">
            <a:avLst/>
          </a:prstGeom>
          <a:noFill/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454654" y="2136709"/>
            <a:ext cx="3121803" cy="3489649"/>
          </a:xfrm>
          <a:prstGeom prst="rect">
            <a:avLst/>
          </a:prstGeom>
          <a:solidFill>
            <a:srgbClr val="F1F1F1"/>
          </a:solidFill>
          <a:ln w="12700">
            <a:solidFill>
              <a:srgbClr val="BDBDBD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526280" y="2880360"/>
            <a:ext cx="29718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5A6473"/>
                </a:solidFill>
                <a:latin typeface="Aptos"/>
              </a:rPr>
              <a:t>INSERT YOUR ORIGINAL
INTERNSHIP CERTIFICATE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23C859-1E70-19DE-B5AB-5856DE779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8476" y="1774683"/>
            <a:ext cx="4572000" cy="43779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3C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tab"/>
          <p:cNvSpPr/>
          <p:nvPr/>
        </p:nvSpPr>
        <p:spPr>
          <a:xfrm>
            <a:off x="0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ight tab"/>
          <p:cNvSpPr/>
          <p:nvPr/>
        </p:nvSpPr>
        <p:spPr>
          <a:xfrm>
            <a:off x="11503152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Card"/>
          <p:cNvSpPr/>
          <p:nvPr/>
        </p:nvSpPr>
        <p:spPr>
          <a:xfrm>
            <a:off x="512251" y="411480"/>
            <a:ext cx="11183112" cy="6035040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Border"/>
          <p:cNvSpPr/>
          <p:nvPr/>
        </p:nvSpPr>
        <p:spPr>
          <a:xfrm>
            <a:off x="640080" y="548640"/>
            <a:ext cx="10908792" cy="5760720"/>
          </a:xfrm>
          <a:prstGeom prst="rect">
            <a:avLst/>
          </a:prstGeom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itle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3800" b="1">
                <a:solidFill>
                  <a:srgbClr val="D90000"/>
                </a:solidFill>
                <a:latin typeface="Cambria"/>
              </a:rPr>
              <a:t>My Internship</a:t>
            </a:r>
            <a:endParaRPr lang="en-US" sz="3800" dirty="0"/>
          </a:p>
        </p:txBody>
      </p:sp>
      <p:sp>
        <p:nvSpPr>
          <p:cNvPr id="7" name="Title rule"/>
          <p:cNvSpPr/>
          <p:nvPr/>
        </p:nvSpPr>
        <p:spPr>
          <a:xfrm>
            <a:off x="1188720" y="1783080"/>
            <a:ext cx="9811512" cy="0"/>
          </a:xfrm>
          <a:prstGeom prst="line">
            <a:avLst/>
          </a:prstGeom>
          <a:noFill/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Internship Description card"/>
          <p:cNvSpPr/>
          <p:nvPr/>
        </p:nvSpPr>
        <p:spPr>
          <a:xfrm>
            <a:off x="1188720" y="2057400"/>
            <a:ext cx="4800600" cy="3977640"/>
          </a:xfrm>
          <a:prstGeom prst="rect">
            <a:avLst/>
          </a:prstGeom>
          <a:solidFill>
            <a:srgbClr val="EEF3E0"/>
          </a:solidFill>
          <a:ln w="12700">
            <a:solidFill>
              <a:srgbClr val="EEF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417320" y="21945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200" b="1">
                <a:solidFill>
                  <a:srgbClr val="D90000"/>
                </a:solidFill>
                <a:latin typeface="Cambria"/>
              </a:rPr>
              <a:t>Project Description</a:t>
            </a:r>
            <a:endParaRPr lang="en-US" sz="2200" dirty="0"/>
          </a:p>
        </p:txBody>
      </p:sp>
      <p:sp>
        <p:nvSpPr>
          <p:cNvPr id="10" name="Internship Description text"/>
          <p:cNvSpPr txBox="1"/>
          <p:nvPr/>
        </p:nvSpPr>
        <p:spPr>
          <a:xfrm>
            <a:off x="1417320" y="2743200"/>
            <a:ext cx="43434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2B2B2B"/>
                </a:solidFill>
                <a:latin typeface="Cambria"/>
              </a:rPr>
              <a:t>Project: AI Resume Screening System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2B2B2B"/>
                </a:solidFill>
                <a:latin typeface="Cambria"/>
              </a:rPr>
              <a:t>Purpose: Compare PDF resumes with a job description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2B2B2B"/>
                </a:solidFill>
                <a:latin typeface="Cambria"/>
              </a:rPr>
              <a:t>Technologies: Python, Flask, HTML, CSS, JavaScript, SQLite, </a:t>
            </a:r>
            <a:r>
              <a:rPr sz="1900" dirty="0" err="1">
                <a:solidFill>
                  <a:srgbClr val="2B2B2B"/>
                </a:solidFill>
                <a:latin typeface="Cambria"/>
              </a:rPr>
              <a:t>pypdf</a:t>
            </a:r>
            <a:endParaRPr sz="1900" dirty="0">
              <a:solidFill>
                <a:srgbClr val="2B2B2B"/>
              </a:solidFill>
              <a:latin typeface="Cambria"/>
            </a:endParaRPr>
          </a:p>
        </p:txBody>
      </p:sp>
      <p:sp>
        <p:nvSpPr>
          <p:cNvPr id="11" name="Things Learned card"/>
          <p:cNvSpPr/>
          <p:nvPr/>
        </p:nvSpPr>
        <p:spPr>
          <a:xfrm>
            <a:off x="6226691" y="2057400"/>
            <a:ext cx="4800600" cy="3977640"/>
          </a:xfrm>
          <a:prstGeom prst="rect">
            <a:avLst/>
          </a:prstGeom>
          <a:solidFill>
            <a:srgbClr val="EEF3E0"/>
          </a:solidFill>
          <a:ln w="12700">
            <a:solidFill>
              <a:srgbClr val="EEF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428232" y="21945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200" b="1">
                <a:solidFill>
                  <a:srgbClr val="D90000"/>
                </a:solidFill>
                <a:latin typeface="Cambria"/>
              </a:rPr>
              <a:t>Things Learned</a:t>
            </a:r>
            <a:endParaRPr lang="en-US" sz="2200" dirty="0"/>
          </a:p>
        </p:txBody>
      </p:sp>
      <p:sp>
        <p:nvSpPr>
          <p:cNvPr id="13" name="Things Learned text"/>
          <p:cNvSpPr txBox="1"/>
          <p:nvPr/>
        </p:nvSpPr>
        <p:spPr>
          <a:xfrm>
            <a:off x="6428232" y="2743200"/>
            <a:ext cx="43434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2B2B2B"/>
                </a:solidFill>
                <a:latin typeface="Cambria"/>
              </a:rPr>
              <a:t>Building Flask routes and web pages</a:t>
            </a:r>
            <a:endParaRPr lang="en-US" sz="1800"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2B2B2B"/>
                </a:solidFill>
                <a:latin typeface="Cambria"/>
              </a:rPr>
              <a:t>Uploading and reading PDF files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2B2B2B"/>
                </a:solidFill>
                <a:latin typeface="Cambria"/>
              </a:rPr>
              <a:t>Finding skill keywords with rules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2B2B2B"/>
                </a:solidFill>
                <a:latin typeface="Cambria"/>
              </a:rPr>
              <a:t>Calculating match scores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dirty="0"/>
              <a:t>Saving records and exporting 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3C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tab"/>
          <p:cNvSpPr/>
          <p:nvPr/>
        </p:nvSpPr>
        <p:spPr>
          <a:xfrm>
            <a:off x="0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ight tab"/>
          <p:cNvSpPr/>
          <p:nvPr/>
        </p:nvSpPr>
        <p:spPr>
          <a:xfrm>
            <a:off x="11503152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Card"/>
          <p:cNvSpPr/>
          <p:nvPr/>
        </p:nvSpPr>
        <p:spPr>
          <a:xfrm>
            <a:off x="502920" y="411480"/>
            <a:ext cx="11183112" cy="6035040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Border"/>
          <p:cNvSpPr/>
          <p:nvPr/>
        </p:nvSpPr>
        <p:spPr>
          <a:xfrm>
            <a:off x="640080" y="548640"/>
            <a:ext cx="10908792" cy="5760720"/>
          </a:xfrm>
          <a:prstGeom prst="rect">
            <a:avLst/>
          </a:prstGeom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itle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3800" b="1">
                <a:solidFill>
                  <a:srgbClr val="D90000"/>
                </a:solidFill>
                <a:latin typeface="Cambria"/>
              </a:rPr>
              <a:t>Specific Tasks</a:t>
            </a:r>
            <a:endParaRPr lang="en-US" sz="3800" dirty="0"/>
          </a:p>
        </p:txBody>
      </p:sp>
      <p:sp>
        <p:nvSpPr>
          <p:cNvPr id="7" name="Title rule"/>
          <p:cNvSpPr/>
          <p:nvPr/>
        </p:nvSpPr>
        <p:spPr>
          <a:xfrm>
            <a:off x="1188720" y="1783080"/>
            <a:ext cx="9811512" cy="0"/>
          </a:xfrm>
          <a:prstGeom prst="line">
            <a:avLst/>
          </a:prstGeom>
          <a:noFill/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188720" y="2066544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7C9A2D"/>
          </a:solidFill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188720" y="206654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mbria"/>
              </a:rPr>
              <a:t>Week 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20116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600">
                <a:solidFill>
                  <a:srgbClr val="2B2B2B"/>
                </a:solidFill>
                <a:latin typeface="Cambria"/>
              </a:rPr>
              <a:t>Reviewed the resume-screening workflow and project requirements.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88720" y="2761488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7C9A2D"/>
          </a:solidFill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1188720" y="27614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mbria"/>
              </a:rPr>
              <a:t>Week 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270662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600">
                <a:solidFill>
                  <a:srgbClr val="2B2B2B"/>
                </a:solidFill>
                <a:latin typeface="Cambria"/>
              </a:rPr>
              <a:t>Created job-title and job-description inputs with PDF upload validation.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88720" y="3456432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7C9A2D"/>
          </a:solidFill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1188720" y="34564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mbria"/>
              </a:rPr>
              <a:t>Week 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34015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600">
                <a:solidFill>
                  <a:srgbClr val="2B2B2B"/>
                </a:solidFill>
                <a:latin typeface="Cambria"/>
              </a:rPr>
              <a:t>Extracted readable PDF text and identified recognized skill keywords.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88720" y="4151376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7C9A2D"/>
          </a:solidFill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1188720" y="415137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mbria"/>
              </a:rPr>
              <a:t>Week 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880360" y="409651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600">
                <a:solidFill>
                  <a:srgbClr val="2B2B2B"/>
                </a:solidFill>
                <a:latin typeface="Cambria"/>
              </a:rPr>
              <a:t>Compared required skills and calculated matched and missing skills.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88720" y="484632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7C9A2D"/>
          </a:solidFill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1188720" y="4846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mbria"/>
              </a:rPr>
              <a:t>Week 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880360" y="479145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600">
                <a:solidFill>
                  <a:srgbClr val="2B2B2B"/>
                </a:solidFill>
                <a:latin typeface="Cambria"/>
              </a:rPr>
              <a:t>Saved candidate details in SQLite and tested dashboard and CSV export.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3C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tab"/>
          <p:cNvSpPr/>
          <p:nvPr/>
        </p:nvSpPr>
        <p:spPr>
          <a:xfrm>
            <a:off x="0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ight tab"/>
          <p:cNvSpPr/>
          <p:nvPr/>
        </p:nvSpPr>
        <p:spPr>
          <a:xfrm>
            <a:off x="11503152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Card"/>
          <p:cNvSpPr/>
          <p:nvPr/>
        </p:nvSpPr>
        <p:spPr>
          <a:xfrm>
            <a:off x="502920" y="411480"/>
            <a:ext cx="11183112" cy="6035040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Border"/>
          <p:cNvSpPr/>
          <p:nvPr/>
        </p:nvSpPr>
        <p:spPr>
          <a:xfrm>
            <a:off x="640080" y="548640"/>
            <a:ext cx="10908792" cy="5760720"/>
          </a:xfrm>
          <a:prstGeom prst="rect">
            <a:avLst/>
          </a:prstGeom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88720" y="3246120"/>
            <a:ext cx="9811512" cy="0"/>
          </a:xfrm>
          <a:prstGeom prst="line">
            <a:avLst/>
          </a:prstGeom>
          <a:noFill/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1257300" y="19888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4400" b="1">
                <a:solidFill>
                  <a:srgbClr val="D90000"/>
                </a:solidFill>
                <a:latin typeface="Cambria"/>
              </a:rPr>
              <a:t>The Project Proposal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680461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2200">
                <a:solidFill>
                  <a:srgbClr val="3A2E27"/>
                </a:solidFill>
                <a:latin typeface="Cambria"/>
              </a:rPr>
              <a:t>AI Resume Screening System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3C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tab"/>
          <p:cNvSpPr/>
          <p:nvPr/>
        </p:nvSpPr>
        <p:spPr>
          <a:xfrm>
            <a:off x="0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ight tab"/>
          <p:cNvSpPr/>
          <p:nvPr/>
        </p:nvSpPr>
        <p:spPr>
          <a:xfrm>
            <a:off x="11503152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Card"/>
          <p:cNvSpPr/>
          <p:nvPr/>
        </p:nvSpPr>
        <p:spPr>
          <a:xfrm>
            <a:off x="502920" y="411480"/>
            <a:ext cx="11183112" cy="6035040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Border"/>
          <p:cNvSpPr/>
          <p:nvPr/>
        </p:nvSpPr>
        <p:spPr>
          <a:xfrm>
            <a:off x="640080" y="548640"/>
            <a:ext cx="10908792" cy="5760720"/>
          </a:xfrm>
          <a:prstGeom prst="rect">
            <a:avLst/>
          </a:prstGeom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itle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3800" b="1">
                <a:solidFill>
                  <a:srgbClr val="D90000"/>
                </a:solidFill>
                <a:latin typeface="Cambria"/>
              </a:rPr>
              <a:t>Title of Our Project</a:t>
            </a:r>
            <a:endParaRPr lang="en-US" sz="3800" dirty="0"/>
          </a:p>
        </p:txBody>
      </p:sp>
      <p:sp>
        <p:nvSpPr>
          <p:cNvPr id="7" name="Title rule"/>
          <p:cNvSpPr/>
          <p:nvPr/>
        </p:nvSpPr>
        <p:spPr>
          <a:xfrm>
            <a:off x="1188720" y="1783080"/>
            <a:ext cx="9811512" cy="0"/>
          </a:xfrm>
          <a:prstGeom prst="line">
            <a:avLst/>
          </a:prstGeom>
          <a:noFill/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254034" y="2373708"/>
            <a:ext cx="9811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4800" b="1">
                <a:solidFill>
                  <a:srgbClr val="3A2E27"/>
                </a:solidFill>
                <a:latin typeface="Cambria"/>
              </a:rPr>
              <a:t>AI Resume Screening System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931920"/>
            <a:ext cx="9811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2200" i="1">
                <a:solidFill>
                  <a:srgbClr val="555555"/>
                </a:solidFill>
                <a:latin typeface="Cambria"/>
              </a:rPr>
              <a:t>PDF Resume Skill Extraction and Keyword-Based Job Matching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3C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tab"/>
          <p:cNvSpPr/>
          <p:nvPr/>
        </p:nvSpPr>
        <p:spPr>
          <a:xfrm>
            <a:off x="0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ight tab"/>
          <p:cNvSpPr/>
          <p:nvPr/>
        </p:nvSpPr>
        <p:spPr>
          <a:xfrm>
            <a:off x="11503152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Card"/>
          <p:cNvSpPr/>
          <p:nvPr/>
        </p:nvSpPr>
        <p:spPr>
          <a:xfrm>
            <a:off x="502920" y="411480"/>
            <a:ext cx="11183112" cy="6035040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Border"/>
          <p:cNvSpPr/>
          <p:nvPr/>
        </p:nvSpPr>
        <p:spPr>
          <a:xfrm>
            <a:off x="640080" y="548640"/>
            <a:ext cx="10908792" cy="5760720"/>
          </a:xfrm>
          <a:prstGeom prst="rect">
            <a:avLst/>
          </a:prstGeom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itle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3800" b="1">
                <a:solidFill>
                  <a:srgbClr val="D90000"/>
                </a:solidFill>
                <a:latin typeface="Cambria"/>
              </a:rPr>
              <a:t>Objective of the Project</a:t>
            </a:r>
            <a:endParaRPr lang="en-US" sz="3800" dirty="0"/>
          </a:p>
        </p:txBody>
      </p:sp>
      <p:sp>
        <p:nvSpPr>
          <p:cNvPr id="7" name="Title rule"/>
          <p:cNvSpPr/>
          <p:nvPr/>
        </p:nvSpPr>
        <p:spPr>
          <a:xfrm>
            <a:off x="1188720" y="1783080"/>
            <a:ext cx="9811512" cy="0"/>
          </a:xfrm>
          <a:prstGeom prst="line">
            <a:avLst/>
          </a:prstGeom>
          <a:noFill/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188720" y="2057400"/>
            <a:ext cx="731520" cy="731520"/>
          </a:xfrm>
          <a:prstGeom prst="ellipse">
            <a:avLst/>
          </a:prstGeom>
          <a:solidFill>
            <a:srgbClr val="D90000"/>
          </a:solidFill>
          <a:ln w="12700">
            <a:solidFill>
              <a:srgbClr val="D9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18872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Cambria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201168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900" b="1" dirty="0">
                <a:solidFill>
                  <a:srgbClr val="D90000"/>
                </a:solidFill>
                <a:latin typeface="Cambria"/>
              </a:rPr>
              <a:t>Upload: </a:t>
            </a:r>
            <a:r>
              <a:rPr sz="1900" dirty="0">
                <a:latin typeface="Cambria"/>
              </a:rPr>
              <a:t>Accept a job title, job description, and multiple PDF resumes.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1188720" y="3063240"/>
            <a:ext cx="731520" cy="731520"/>
          </a:xfrm>
          <a:prstGeom prst="ellipse">
            <a:avLst/>
          </a:prstGeom>
          <a:solidFill>
            <a:srgbClr val="D90000"/>
          </a:solidFill>
          <a:ln w="12700">
            <a:solidFill>
              <a:srgbClr val="D9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1188720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Cambria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301752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900" b="1" dirty="0">
                <a:solidFill>
                  <a:srgbClr val="D90000"/>
                </a:solidFill>
                <a:latin typeface="Cambria"/>
              </a:rPr>
              <a:t>Extract: </a:t>
            </a:r>
            <a:r>
              <a:rPr sz="1900" dirty="0">
                <a:latin typeface="Cambria"/>
              </a:rPr>
              <a:t>Read text from supported, text-based PDF resumes.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188720" y="4069080"/>
            <a:ext cx="731520" cy="731520"/>
          </a:xfrm>
          <a:prstGeom prst="ellipse">
            <a:avLst/>
          </a:prstGeom>
          <a:solidFill>
            <a:srgbClr val="D90000"/>
          </a:solidFill>
          <a:ln w="12700">
            <a:solidFill>
              <a:srgbClr val="D9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1188720" y="4069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Cambria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2148840" y="402336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900" b="1" dirty="0">
                <a:solidFill>
                  <a:srgbClr val="D90000"/>
                </a:solidFill>
                <a:latin typeface="Cambria"/>
              </a:rPr>
              <a:t>Match: </a:t>
            </a:r>
            <a:r>
              <a:rPr sz="1900" dirty="0">
                <a:latin typeface="Cambria"/>
              </a:rPr>
              <a:t>Identify recognized skills and find matched or missing skills.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1188720" y="5074920"/>
            <a:ext cx="731520" cy="731520"/>
          </a:xfrm>
          <a:prstGeom prst="ellipse">
            <a:avLst/>
          </a:prstGeom>
          <a:solidFill>
            <a:srgbClr val="D90000"/>
          </a:solidFill>
          <a:ln w="12700">
            <a:solidFill>
              <a:srgbClr val="D9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1188720" y="5074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Cambria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2148840" y="502920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900" b="1" dirty="0">
                <a:solidFill>
                  <a:srgbClr val="D90000"/>
                </a:solidFill>
                <a:latin typeface="Cambria"/>
              </a:rPr>
              <a:t>Display: </a:t>
            </a:r>
            <a:r>
              <a:rPr sz="1900" dirty="0">
                <a:latin typeface="Cambria"/>
              </a:rPr>
              <a:t>Show a keyword-based score and save candidate results.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3C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tab"/>
          <p:cNvSpPr/>
          <p:nvPr/>
        </p:nvSpPr>
        <p:spPr>
          <a:xfrm>
            <a:off x="0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ight tab"/>
          <p:cNvSpPr/>
          <p:nvPr/>
        </p:nvSpPr>
        <p:spPr>
          <a:xfrm>
            <a:off x="11503152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Card"/>
          <p:cNvSpPr/>
          <p:nvPr/>
        </p:nvSpPr>
        <p:spPr>
          <a:xfrm>
            <a:off x="640080" y="457200"/>
            <a:ext cx="11183112" cy="6035040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Border"/>
          <p:cNvSpPr/>
          <p:nvPr/>
        </p:nvSpPr>
        <p:spPr>
          <a:xfrm>
            <a:off x="640080" y="548640"/>
            <a:ext cx="10908792" cy="5760720"/>
          </a:xfrm>
          <a:prstGeom prst="rect">
            <a:avLst/>
          </a:prstGeom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itle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3800" b="1">
                <a:solidFill>
                  <a:srgbClr val="D90000"/>
                </a:solidFill>
                <a:latin typeface="Cambria"/>
              </a:rPr>
              <a:t>Abstract</a:t>
            </a:r>
            <a:endParaRPr lang="en-US" sz="3800" dirty="0"/>
          </a:p>
        </p:txBody>
      </p:sp>
      <p:sp>
        <p:nvSpPr>
          <p:cNvPr id="7" name="Title rule"/>
          <p:cNvSpPr/>
          <p:nvPr/>
        </p:nvSpPr>
        <p:spPr>
          <a:xfrm>
            <a:off x="1188720" y="1783080"/>
            <a:ext cx="9811512" cy="0"/>
          </a:xfrm>
          <a:prstGeom prst="line">
            <a:avLst/>
          </a:prstGeom>
          <a:noFill/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188720" y="1965960"/>
            <a:ext cx="9811512" cy="3548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The AI Resume Screening System is a web-based application that helps recruiters review resumes easily. Recruiters enter the job title and job description and upload PDF resumes.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system uses Python Flask to process the uploaded resumes. The </a:t>
            </a:r>
            <a:r>
              <a:rPr lang="en-IN" dirty="0" err="1"/>
              <a:t>pypdf</a:t>
            </a:r>
            <a:r>
              <a:rPr lang="en-IN" dirty="0"/>
              <a:t> library extracts text, and predefined keywords are used to identify candidate skills.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system compares the candidate’s skills with the required job skills and calculates a matching percentage. Candidate details, scores, matched skills, and missing skills are stored in an SQLite database.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Recruiters can view candidate records and export the results as a CSV file. The system uses keyword matching, not a trained AI model, so recruiters must manually review every resume before making hiring decisions.</a:t>
            </a:r>
          </a:p>
          <a:p>
            <a:pPr marL="0" indent="0" algn="just">
              <a:spcAft>
                <a:spcPts val="800"/>
              </a:spcAft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3C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tab"/>
          <p:cNvSpPr/>
          <p:nvPr/>
        </p:nvSpPr>
        <p:spPr>
          <a:xfrm>
            <a:off x="0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ight tab"/>
          <p:cNvSpPr/>
          <p:nvPr/>
        </p:nvSpPr>
        <p:spPr>
          <a:xfrm>
            <a:off x="11503152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Card"/>
          <p:cNvSpPr/>
          <p:nvPr/>
        </p:nvSpPr>
        <p:spPr>
          <a:xfrm>
            <a:off x="502920" y="411480"/>
            <a:ext cx="11183112" cy="6035040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Border"/>
          <p:cNvSpPr/>
          <p:nvPr/>
        </p:nvSpPr>
        <p:spPr>
          <a:xfrm>
            <a:off x="640080" y="548640"/>
            <a:ext cx="10908792" cy="5760720"/>
          </a:xfrm>
          <a:prstGeom prst="rect">
            <a:avLst/>
          </a:prstGeom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itle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3400" b="1">
                <a:solidFill>
                  <a:srgbClr val="D90000"/>
                </a:solidFill>
                <a:latin typeface="Cambria"/>
              </a:rPr>
              <a:t>Existing System and Its Disadvantages</a:t>
            </a:r>
            <a:endParaRPr lang="en-US" sz="3400" dirty="0"/>
          </a:p>
        </p:txBody>
      </p:sp>
      <p:sp>
        <p:nvSpPr>
          <p:cNvPr id="7" name="Title rule"/>
          <p:cNvSpPr/>
          <p:nvPr/>
        </p:nvSpPr>
        <p:spPr>
          <a:xfrm>
            <a:off x="1188720" y="1783080"/>
            <a:ext cx="9811512" cy="0"/>
          </a:xfrm>
          <a:prstGeom prst="line">
            <a:avLst/>
          </a:prstGeom>
          <a:noFill/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Existing approaches card"/>
          <p:cNvSpPr/>
          <p:nvPr/>
        </p:nvSpPr>
        <p:spPr>
          <a:xfrm>
            <a:off x="1188720" y="2057400"/>
            <a:ext cx="4800600" cy="402336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417320" y="21945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200" b="1">
                <a:solidFill>
                  <a:srgbClr val="3A2E27"/>
                </a:solidFill>
                <a:latin typeface="Cambria"/>
              </a:rPr>
              <a:t>Existing approaches</a:t>
            </a:r>
            <a:endParaRPr lang="en-US" sz="2200" dirty="0"/>
          </a:p>
        </p:txBody>
      </p:sp>
      <p:sp>
        <p:nvSpPr>
          <p:cNvPr id="10" name="Existing approaches text"/>
          <p:cNvSpPr txBox="1"/>
          <p:nvPr/>
        </p:nvSpPr>
        <p:spPr>
          <a:xfrm>
            <a:off x="1417320" y="2743200"/>
            <a:ext cx="4343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2000" dirty="0">
                <a:solidFill>
                  <a:srgbClr val="2B2B2B"/>
                </a:solidFill>
                <a:latin typeface="Cambria"/>
              </a:rPr>
              <a:t>Manual reading of each resume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2B2B2B"/>
                </a:solidFill>
                <a:latin typeface="Cambria"/>
              </a:rPr>
              <a:t>Comparing resumes with job requirements by hand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2B2B2B"/>
                </a:solidFill>
                <a:latin typeface="Cambria"/>
              </a:rPr>
              <a:t>Tracking candidates in separate files or spreadsheets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2B2B2B"/>
                </a:solidFill>
                <a:latin typeface="Cambria"/>
              </a:rPr>
              <a:t>Searching for skills one resume at a time</a:t>
            </a:r>
          </a:p>
        </p:txBody>
      </p:sp>
      <p:sp>
        <p:nvSpPr>
          <p:cNvPr id="11" name="Disadvantages card"/>
          <p:cNvSpPr/>
          <p:nvPr/>
        </p:nvSpPr>
        <p:spPr>
          <a:xfrm>
            <a:off x="6199632" y="2057400"/>
            <a:ext cx="4800600" cy="4023360"/>
          </a:xfrm>
          <a:prstGeom prst="rect">
            <a:avLst/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428232" y="21945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200" b="1">
                <a:solidFill>
                  <a:srgbClr val="D90000"/>
                </a:solidFill>
                <a:latin typeface="Cambria"/>
              </a:rPr>
              <a:t>Disadvantages</a:t>
            </a:r>
            <a:endParaRPr lang="en-US" sz="2200" dirty="0"/>
          </a:p>
        </p:txBody>
      </p:sp>
      <p:sp>
        <p:nvSpPr>
          <p:cNvPr id="13" name="Disadvantages text"/>
          <p:cNvSpPr txBox="1"/>
          <p:nvPr/>
        </p:nvSpPr>
        <p:spPr>
          <a:xfrm>
            <a:off x="6428232" y="2743200"/>
            <a:ext cx="4343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900" dirty="0">
                <a:solidFill>
                  <a:srgbClr val="2B2B2B"/>
                </a:solidFill>
                <a:latin typeface="Cambria"/>
              </a:rPr>
              <a:t>Takes more time for many resumes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2B2B2B"/>
                </a:solidFill>
                <a:latin typeface="Cambria"/>
              </a:rPr>
              <a:t>Repeated checking of similar skills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2B2B2B"/>
                </a:solidFill>
                <a:latin typeface="Cambria"/>
              </a:rPr>
              <a:t>Important skills may be overlooked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2B2B2B"/>
                </a:solidFill>
                <a:latin typeface="Cambria"/>
              </a:rPr>
              <a:t>Candidate records can be difficult to organize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2B2B2B"/>
                </a:solidFill>
                <a:latin typeface="Cambria"/>
              </a:rPr>
              <a:t>Manual comparison may be inconsistent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3C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tab"/>
          <p:cNvSpPr/>
          <p:nvPr/>
        </p:nvSpPr>
        <p:spPr>
          <a:xfrm>
            <a:off x="0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ight tab"/>
          <p:cNvSpPr/>
          <p:nvPr/>
        </p:nvSpPr>
        <p:spPr>
          <a:xfrm>
            <a:off x="11503152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Card"/>
          <p:cNvSpPr/>
          <p:nvPr/>
        </p:nvSpPr>
        <p:spPr>
          <a:xfrm>
            <a:off x="502920" y="411480"/>
            <a:ext cx="11183112" cy="6035040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Border"/>
          <p:cNvSpPr/>
          <p:nvPr/>
        </p:nvSpPr>
        <p:spPr>
          <a:xfrm>
            <a:off x="640080" y="548640"/>
            <a:ext cx="10908792" cy="5760720"/>
          </a:xfrm>
          <a:prstGeom prst="rect">
            <a:avLst/>
          </a:prstGeom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itle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3400" b="1">
                <a:solidFill>
                  <a:srgbClr val="D90000"/>
                </a:solidFill>
                <a:latin typeface="Cambria"/>
              </a:rPr>
              <a:t>Proposed System with Advantages</a:t>
            </a:r>
            <a:endParaRPr lang="en-US" sz="3400" dirty="0"/>
          </a:p>
        </p:txBody>
      </p:sp>
      <p:sp>
        <p:nvSpPr>
          <p:cNvPr id="7" name="Title rule"/>
          <p:cNvSpPr/>
          <p:nvPr/>
        </p:nvSpPr>
        <p:spPr>
          <a:xfrm>
            <a:off x="1188720" y="1783080"/>
            <a:ext cx="9811512" cy="0"/>
          </a:xfrm>
          <a:prstGeom prst="line">
            <a:avLst/>
          </a:prstGeom>
          <a:noFill/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Proposed system card"/>
          <p:cNvSpPr/>
          <p:nvPr/>
        </p:nvSpPr>
        <p:spPr>
          <a:xfrm>
            <a:off x="1188720" y="2057400"/>
            <a:ext cx="4800600" cy="4023360"/>
          </a:xfrm>
          <a:prstGeom prst="rect">
            <a:avLst/>
          </a:prstGeom>
          <a:solidFill>
            <a:srgbClr val="EEF3E0"/>
          </a:solidFill>
          <a:ln w="12700">
            <a:solidFill>
              <a:srgbClr val="EEF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417320" y="21945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200" b="1">
                <a:solidFill>
                  <a:srgbClr val="3F6B00"/>
                </a:solidFill>
                <a:latin typeface="Cambria"/>
              </a:rPr>
              <a:t>Proposed system</a:t>
            </a:r>
            <a:endParaRPr lang="en-US" sz="2200" dirty="0"/>
          </a:p>
        </p:txBody>
      </p:sp>
      <p:sp>
        <p:nvSpPr>
          <p:cNvPr id="10" name="Proposed system text"/>
          <p:cNvSpPr txBox="1"/>
          <p:nvPr/>
        </p:nvSpPr>
        <p:spPr>
          <a:xfrm>
            <a:off x="1417320" y="2743200"/>
            <a:ext cx="4343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900" dirty="0">
                <a:solidFill>
                  <a:srgbClr val="2B2B2B"/>
                </a:solidFill>
                <a:latin typeface="Cambria"/>
              </a:rPr>
              <a:t>Upload up to 20 PDF resumes per batch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2B2B2B"/>
                </a:solidFill>
                <a:latin typeface="Cambria"/>
              </a:rPr>
              <a:t>Extract text using the </a:t>
            </a:r>
            <a:r>
              <a:rPr sz="1900" dirty="0" err="1">
                <a:solidFill>
                  <a:srgbClr val="2B2B2B"/>
                </a:solidFill>
                <a:latin typeface="Cambria"/>
              </a:rPr>
              <a:t>pypdf</a:t>
            </a:r>
            <a:r>
              <a:rPr sz="1900" dirty="0">
                <a:solidFill>
                  <a:srgbClr val="2B2B2B"/>
                </a:solidFill>
                <a:latin typeface="Cambria"/>
              </a:rPr>
              <a:t> library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2B2B2B"/>
                </a:solidFill>
                <a:latin typeface="Cambria"/>
              </a:rPr>
              <a:t>Identify recognized skills with keyword rules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2B2B2B"/>
                </a:solidFill>
                <a:latin typeface="Cambria"/>
              </a:rPr>
              <a:t>Show matched skills, missing skills, and score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2B2B2B"/>
                </a:solidFill>
                <a:latin typeface="Cambria"/>
              </a:rPr>
              <a:t>Store candidates in SQLite and export CSV</a:t>
            </a:r>
          </a:p>
        </p:txBody>
      </p:sp>
      <p:sp>
        <p:nvSpPr>
          <p:cNvPr id="11" name="Advantages card"/>
          <p:cNvSpPr/>
          <p:nvPr/>
        </p:nvSpPr>
        <p:spPr>
          <a:xfrm>
            <a:off x="6199632" y="2057400"/>
            <a:ext cx="4800600" cy="4023360"/>
          </a:xfrm>
          <a:prstGeom prst="rect">
            <a:avLst/>
          </a:prstGeom>
          <a:solidFill>
            <a:srgbClr val="EEF3E0"/>
          </a:solidFill>
          <a:ln w="12700">
            <a:solidFill>
              <a:srgbClr val="EEF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428232" y="21945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200" b="1">
                <a:solidFill>
                  <a:srgbClr val="3F6B00"/>
                </a:solidFill>
                <a:latin typeface="Cambria"/>
              </a:rPr>
              <a:t>Advantages</a:t>
            </a:r>
            <a:endParaRPr lang="en-US" sz="2200" dirty="0"/>
          </a:p>
        </p:txBody>
      </p:sp>
      <p:sp>
        <p:nvSpPr>
          <p:cNvPr id="13" name="Advantages text"/>
          <p:cNvSpPr txBox="1"/>
          <p:nvPr/>
        </p:nvSpPr>
        <p:spPr>
          <a:xfrm>
            <a:off x="6428232" y="2743200"/>
            <a:ext cx="4343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900" dirty="0">
                <a:solidFill>
                  <a:srgbClr val="2B2B2B"/>
                </a:solidFill>
                <a:latin typeface="Cambria"/>
              </a:rPr>
              <a:t>Organizes screening in one interface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2B2B2B"/>
                </a:solidFill>
                <a:latin typeface="Cambria"/>
              </a:rPr>
              <a:t>Reduces repeated manual comparison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2B2B2B"/>
                </a:solidFill>
                <a:latin typeface="Cambria"/>
              </a:rPr>
              <a:t>Makes skill gaps easier to review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2B2B2B"/>
                </a:solidFill>
                <a:latin typeface="Cambria"/>
              </a:rPr>
              <a:t>Keeps candidate records together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2B2B2B"/>
                </a:solidFill>
                <a:latin typeface="Cambria"/>
              </a:rPr>
              <a:t>Supports quick CSV-based reporting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3C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tab"/>
          <p:cNvSpPr/>
          <p:nvPr/>
        </p:nvSpPr>
        <p:spPr>
          <a:xfrm>
            <a:off x="0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ight tab"/>
          <p:cNvSpPr/>
          <p:nvPr/>
        </p:nvSpPr>
        <p:spPr>
          <a:xfrm>
            <a:off x="11503152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Card"/>
          <p:cNvSpPr/>
          <p:nvPr/>
        </p:nvSpPr>
        <p:spPr>
          <a:xfrm>
            <a:off x="502920" y="411480"/>
            <a:ext cx="11183112" cy="6035040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Border"/>
          <p:cNvSpPr/>
          <p:nvPr/>
        </p:nvSpPr>
        <p:spPr>
          <a:xfrm>
            <a:off x="640080" y="548640"/>
            <a:ext cx="10908792" cy="5760720"/>
          </a:xfrm>
          <a:prstGeom prst="rect">
            <a:avLst/>
          </a:prstGeom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itle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3400" b="1">
                <a:solidFill>
                  <a:srgbClr val="D90000"/>
                </a:solidFill>
                <a:latin typeface="Cambria"/>
              </a:rPr>
              <a:t>Hardware &amp; Software Requirements</a:t>
            </a:r>
            <a:endParaRPr lang="en-US" sz="3400" dirty="0"/>
          </a:p>
        </p:txBody>
      </p:sp>
      <p:sp>
        <p:nvSpPr>
          <p:cNvPr id="7" name="Title rule"/>
          <p:cNvSpPr/>
          <p:nvPr/>
        </p:nvSpPr>
        <p:spPr>
          <a:xfrm>
            <a:off x="1188720" y="1783080"/>
            <a:ext cx="9811512" cy="0"/>
          </a:xfrm>
          <a:prstGeom prst="line">
            <a:avLst/>
          </a:prstGeom>
          <a:noFill/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Hardware card"/>
          <p:cNvSpPr/>
          <p:nvPr/>
        </p:nvSpPr>
        <p:spPr>
          <a:xfrm>
            <a:off x="1188720" y="2057400"/>
            <a:ext cx="4800600" cy="4023360"/>
          </a:xfrm>
          <a:prstGeom prst="rect">
            <a:avLst/>
          </a:prstGeom>
          <a:solidFill>
            <a:srgbClr val="EEF3E0"/>
          </a:solidFill>
          <a:ln w="12700">
            <a:solidFill>
              <a:srgbClr val="EEF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417320" y="21945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200" b="1">
                <a:solidFill>
                  <a:srgbClr val="D90000"/>
                </a:solidFill>
                <a:latin typeface="Cambria"/>
              </a:rPr>
              <a:t>Hardware</a:t>
            </a:r>
            <a:endParaRPr lang="en-US" sz="2200" dirty="0"/>
          </a:p>
        </p:txBody>
      </p:sp>
      <p:sp>
        <p:nvSpPr>
          <p:cNvPr id="10" name="Hardware text"/>
          <p:cNvSpPr txBox="1"/>
          <p:nvPr/>
        </p:nvSpPr>
        <p:spPr>
          <a:xfrm>
            <a:off x="1417320" y="2743200"/>
            <a:ext cx="4343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2B2B2B"/>
                </a:solidFill>
                <a:latin typeface="Cambria"/>
              </a:rPr>
              <a:t>Laptop or desktop computer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2B2B2B"/>
                </a:solidFill>
                <a:latin typeface="Cambria"/>
              </a:rPr>
              <a:t>Keyboard, monitor, and storage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2B2B2B"/>
                </a:solidFill>
                <a:latin typeface="Cambria"/>
              </a:rPr>
              <a:t>Internet connection for setup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2B2B2B"/>
                </a:solidFill>
                <a:latin typeface="Cambria"/>
              </a:rPr>
              <a:t>Recommended: 4 GB RAM or more</a:t>
            </a:r>
          </a:p>
        </p:txBody>
      </p:sp>
      <p:sp>
        <p:nvSpPr>
          <p:cNvPr id="11" name="Software card"/>
          <p:cNvSpPr/>
          <p:nvPr/>
        </p:nvSpPr>
        <p:spPr>
          <a:xfrm>
            <a:off x="6199632" y="2057400"/>
            <a:ext cx="4800600" cy="4023360"/>
          </a:xfrm>
          <a:prstGeom prst="rect">
            <a:avLst/>
          </a:prstGeom>
          <a:solidFill>
            <a:srgbClr val="EEF3E0"/>
          </a:solidFill>
          <a:ln w="12700">
            <a:solidFill>
              <a:srgbClr val="EEF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428232" y="21945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200" b="1">
                <a:solidFill>
                  <a:srgbClr val="D90000"/>
                </a:solidFill>
                <a:latin typeface="Cambria"/>
              </a:rPr>
              <a:t>Software</a:t>
            </a:r>
            <a:endParaRPr lang="en-US" sz="2200" dirty="0"/>
          </a:p>
        </p:txBody>
      </p:sp>
      <p:sp>
        <p:nvSpPr>
          <p:cNvPr id="13" name="Software text"/>
          <p:cNvSpPr txBox="1"/>
          <p:nvPr/>
        </p:nvSpPr>
        <p:spPr>
          <a:xfrm>
            <a:off x="6428232" y="2743200"/>
            <a:ext cx="4343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285750" indent="-28575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2B2B2B"/>
                </a:solidFill>
                <a:latin typeface="Cambria"/>
              </a:rPr>
              <a:t>OS: Windows or Linux</a:t>
            </a:r>
            <a:endParaRPr lang="en-US" sz="1800"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2B2B2B"/>
                </a:solidFill>
                <a:latin typeface="Cambria"/>
              </a:rPr>
              <a:t>Language: Python 3.10+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2B2B2B"/>
                </a:solidFill>
                <a:latin typeface="Cambria"/>
              </a:rPr>
              <a:t>Backend: Flask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2B2B2B"/>
                </a:solidFill>
                <a:latin typeface="Cambria"/>
              </a:rPr>
              <a:t>Frontend: HTML, CSS, JavaScript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2B2B2B"/>
                </a:solidFill>
                <a:latin typeface="Cambria"/>
              </a:rPr>
              <a:t>Database: SQLite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2B2B2B"/>
                </a:solidFill>
                <a:latin typeface="Cambria"/>
              </a:rPr>
              <a:t>PDF library: </a:t>
            </a:r>
            <a:r>
              <a:rPr sz="1800" dirty="0" err="1">
                <a:solidFill>
                  <a:srgbClr val="2B2B2B"/>
                </a:solidFill>
                <a:latin typeface="Cambria"/>
              </a:rPr>
              <a:t>pypdf</a:t>
            </a:r>
            <a:endParaRPr lang="en-IN" sz="1800" dirty="0">
              <a:solidFill>
                <a:srgbClr val="2B2B2B"/>
              </a:solidFill>
              <a:latin typeface="Cambria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Code Editor: Visual Studio Code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Web Browser: Google Chrome or Microsoft Edge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endParaRPr sz="1800" dirty="0">
              <a:solidFill>
                <a:srgbClr val="2B2B2B"/>
              </a:solidFill>
              <a:latin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3C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tab"/>
          <p:cNvSpPr/>
          <p:nvPr/>
        </p:nvSpPr>
        <p:spPr>
          <a:xfrm>
            <a:off x="0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ight tab"/>
          <p:cNvSpPr/>
          <p:nvPr/>
        </p:nvSpPr>
        <p:spPr>
          <a:xfrm>
            <a:off x="11503152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Card"/>
          <p:cNvSpPr/>
          <p:nvPr/>
        </p:nvSpPr>
        <p:spPr>
          <a:xfrm>
            <a:off x="502920" y="411480"/>
            <a:ext cx="11183112" cy="6035040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Border"/>
          <p:cNvSpPr/>
          <p:nvPr/>
        </p:nvSpPr>
        <p:spPr>
          <a:xfrm>
            <a:off x="640080" y="548640"/>
            <a:ext cx="10908792" cy="5760720"/>
          </a:xfrm>
          <a:prstGeom prst="rect">
            <a:avLst/>
          </a:prstGeom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itle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3400" b="1">
                <a:solidFill>
                  <a:srgbClr val="D90000"/>
                </a:solidFill>
                <a:latin typeface="Cambria"/>
              </a:rPr>
              <a:t>System Architecture</a:t>
            </a:r>
            <a:endParaRPr lang="en-US" sz="3400" dirty="0"/>
          </a:p>
        </p:txBody>
      </p:sp>
      <p:sp>
        <p:nvSpPr>
          <p:cNvPr id="7" name="Title rule"/>
          <p:cNvSpPr/>
          <p:nvPr/>
        </p:nvSpPr>
        <p:spPr>
          <a:xfrm>
            <a:off x="1188720" y="1783080"/>
            <a:ext cx="9811512" cy="0"/>
          </a:xfrm>
          <a:prstGeom prst="line">
            <a:avLst/>
          </a:prstGeom>
          <a:noFill/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Email Input box"/>
          <p:cNvSpPr/>
          <p:nvPr/>
        </p:nvSpPr>
        <p:spPr>
          <a:xfrm>
            <a:off x="1143000" y="210312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188720" y="21031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</a:rPr>
              <a:t>User / Recruiter</a:t>
            </a:r>
            <a:endParaRPr lang="en-US" sz="1400" dirty="0"/>
          </a:p>
          <a:p>
            <a:pPr algn="ctr"/>
            <a:r>
              <a:rPr sz="1100">
                <a:solidFill>
                  <a:srgbClr val="FFFFFF"/>
                </a:solidFill>
                <a:latin typeface="Cambria"/>
              </a:rPr>
              <a:t>Job title + description + PDFs</a:t>
            </a:r>
          </a:p>
        </p:txBody>
      </p:sp>
      <p:sp>
        <p:nvSpPr>
          <p:cNvPr id="10" name="Shape 8"/>
          <p:cNvSpPr/>
          <p:nvPr/>
        </p:nvSpPr>
        <p:spPr>
          <a:xfrm>
            <a:off x="2871216" y="2496312"/>
            <a:ext cx="292608" cy="310896"/>
          </a:xfrm>
          <a:prstGeom prst="rightArrow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Preprocessing box"/>
          <p:cNvSpPr/>
          <p:nvPr/>
        </p:nvSpPr>
        <p:spPr>
          <a:xfrm>
            <a:off x="3200400" y="210312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7C9A2D"/>
          </a:solidFill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246120" y="21031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</a:rPr>
              <a:t>Flask Backend</a:t>
            </a:r>
            <a:endParaRPr lang="en-US" sz="1400" dirty="0"/>
          </a:p>
          <a:p>
            <a:pPr algn="ctr"/>
            <a:r>
              <a:rPr sz="1100">
                <a:solidFill>
                  <a:srgbClr val="FFFFFF"/>
                </a:solidFill>
                <a:latin typeface="Cambria"/>
              </a:rPr>
              <a:t>Validate inputs and files</a:t>
            </a:r>
          </a:p>
        </p:txBody>
      </p:sp>
      <p:sp>
        <p:nvSpPr>
          <p:cNvPr id="13" name="Shape 11"/>
          <p:cNvSpPr/>
          <p:nvPr/>
        </p:nvSpPr>
        <p:spPr>
          <a:xfrm>
            <a:off x="4928616" y="2496312"/>
            <a:ext cx="292608" cy="310896"/>
          </a:xfrm>
          <a:prstGeom prst="rightArrow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Feature Extraction box"/>
          <p:cNvSpPr/>
          <p:nvPr/>
        </p:nvSpPr>
        <p:spPr>
          <a:xfrm>
            <a:off x="5257800" y="210312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7C9A2D"/>
          </a:solidFill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5303520" y="21031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</a:rPr>
              <a:t>PDF Text Extraction</a:t>
            </a:r>
            <a:endParaRPr lang="en-US" sz="1400" dirty="0"/>
          </a:p>
          <a:p>
            <a:pPr algn="ctr"/>
            <a:r>
              <a:rPr sz="1100">
                <a:solidFill>
                  <a:srgbClr val="FFFFFF"/>
                </a:solidFill>
                <a:latin typeface="Cambria"/>
              </a:rPr>
              <a:t>pypdf reads page text</a:t>
            </a:r>
          </a:p>
        </p:txBody>
      </p:sp>
      <p:sp>
        <p:nvSpPr>
          <p:cNvPr id="16" name="Shape 14"/>
          <p:cNvSpPr/>
          <p:nvPr/>
        </p:nvSpPr>
        <p:spPr>
          <a:xfrm>
            <a:off x="6986016" y="2496312"/>
            <a:ext cx="292608" cy="310896"/>
          </a:xfrm>
          <a:prstGeom prst="rightArrow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Model Training box"/>
          <p:cNvSpPr/>
          <p:nvPr/>
        </p:nvSpPr>
        <p:spPr>
          <a:xfrm>
            <a:off x="7315200" y="210312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7C9A2D"/>
          </a:solidFill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7360920" y="21031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</a:rPr>
              <a:t>Skill Identification</a:t>
            </a:r>
            <a:endParaRPr lang="en-US" sz="1400" dirty="0"/>
          </a:p>
          <a:p>
            <a:pPr algn="ctr"/>
            <a:r>
              <a:rPr sz="1100">
                <a:solidFill>
                  <a:srgbClr val="FFFFFF"/>
                </a:solidFill>
                <a:latin typeface="Cambria"/>
              </a:rPr>
              <a:t>Keyword / regex rules</a:t>
            </a:r>
          </a:p>
        </p:txBody>
      </p:sp>
      <p:sp>
        <p:nvSpPr>
          <p:cNvPr id="19" name="Shape 17"/>
          <p:cNvSpPr/>
          <p:nvPr/>
        </p:nvSpPr>
        <p:spPr>
          <a:xfrm>
            <a:off x="9043416" y="2496312"/>
            <a:ext cx="292608" cy="310896"/>
          </a:xfrm>
          <a:prstGeom prst="rightArrow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Evaluation box"/>
          <p:cNvSpPr/>
          <p:nvPr/>
        </p:nvSpPr>
        <p:spPr>
          <a:xfrm>
            <a:off x="9372600" y="210312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7C9A2D"/>
          </a:solidFill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9418320" y="21031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</a:rPr>
              <a:t>Match Score</a:t>
            </a:r>
            <a:endParaRPr lang="en-US" sz="1400" dirty="0"/>
          </a:p>
          <a:p>
            <a:pPr algn="ctr"/>
            <a:r>
              <a:rPr sz="1100">
                <a:solidFill>
                  <a:srgbClr val="FFFFFF"/>
                </a:solidFill>
                <a:latin typeface="Cambria"/>
              </a:rPr>
              <a:t>Matched required skills</a:t>
            </a:r>
          </a:p>
        </p:txBody>
      </p:sp>
      <p:sp>
        <p:nvSpPr>
          <p:cNvPr id="22" name="Shape 20"/>
          <p:cNvSpPr/>
          <p:nvPr/>
        </p:nvSpPr>
        <p:spPr>
          <a:xfrm>
            <a:off x="10062972" y="3246120"/>
            <a:ext cx="310896" cy="685800"/>
          </a:xfrm>
          <a:prstGeom prst="downArrow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Best Model box"/>
          <p:cNvSpPr/>
          <p:nvPr/>
        </p:nvSpPr>
        <p:spPr>
          <a:xfrm>
            <a:off x="9372600" y="393192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D90000"/>
          </a:solidFill>
          <a:ln w="12700">
            <a:solidFill>
              <a:srgbClr val="D9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9418320" y="39319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</a:rPr>
              <a:t>Save Results</a:t>
            </a:r>
            <a:endParaRPr lang="en-US" sz="1400" dirty="0"/>
          </a:p>
          <a:p>
            <a:pPr algn="ctr"/>
            <a:r>
              <a:rPr sz="1100">
                <a:solidFill>
                  <a:srgbClr val="FFFFFF"/>
                </a:solidFill>
                <a:latin typeface="Cambria"/>
              </a:rPr>
              <a:t>Candidate records</a:t>
            </a:r>
          </a:p>
        </p:txBody>
      </p:sp>
      <p:sp>
        <p:nvSpPr>
          <p:cNvPr id="25" name="Shape 23"/>
          <p:cNvSpPr/>
          <p:nvPr/>
        </p:nvSpPr>
        <p:spPr>
          <a:xfrm>
            <a:off x="9043416" y="4325112"/>
            <a:ext cx="292608" cy="310896"/>
          </a:xfrm>
          <a:prstGeom prst="leftArrow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Classifier box"/>
          <p:cNvSpPr/>
          <p:nvPr/>
        </p:nvSpPr>
        <p:spPr>
          <a:xfrm>
            <a:off x="7315200" y="393192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7360920" y="39319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</a:rPr>
              <a:t>SQLite Database</a:t>
            </a:r>
            <a:endParaRPr lang="en-US" sz="1400" dirty="0"/>
          </a:p>
          <a:p>
            <a:pPr algn="ctr"/>
            <a:r>
              <a:rPr sz="1100">
                <a:solidFill>
                  <a:srgbClr val="FFFFFF"/>
                </a:solidFill>
                <a:latin typeface="Cambria"/>
              </a:rPr>
              <a:t>Jobs and candidates</a:t>
            </a:r>
          </a:p>
        </p:txBody>
      </p:sp>
      <p:sp>
        <p:nvSpPr>
          <p:cNvPr id="28" name="Shape 26"/>
          <p:cNvSpPr/>
          <p:nvPr/>
        </p:nvSpPr>
        <p:spPr>
          <a:xfrm>
            <a:off x="6986016" y="4325112"/>
            <a:ext cx="292608" cy="310896"/>
          </a:xfrm>
          <a:prstGeom prst="leftArrow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Web App box"/>
          <p:cNvSpPr/>
          <p:nvPr/>
        </p:nvSpPr>
        <p:spPr>
          <a:xfrm>
            <a:off x="5257800" y="393192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5303520" y="39319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</a:rPr>
              <a:t>Dashboard</a:t>
            </a:r>
            <a:endParaRPr lang="en-US" sz="1400" dirty="0"/>
          </a:p>
          <a:p>
            <a:pPr algn="ctr"/>
            <a:r>
              <a:rPr sz="1100">
                <a:solidFill>
                  <a:srgbClr val="FFFFFF"/>
                </a:solidFill>
                <a:latin typeface="Cambria"/>
              </a:rPr>
              <a:t>View candidates and skills</a:t>
            </a:r>
          </a:p>
        </p:txBody>
      </p:sp>
      <p:sp>
        <p:nvSpPr>
          <p:cNvPr id="31" name="Shape 29"/>
          <p:cNvSpPr/>
          <p:nvPr/>
        </p:nvSpPr>
        <p:spPr>
          <a:xfrm>
            <a:off x="4928616" y="4325112"/>
            <a:ext cx="292608" cy="310896"/>
          </a:xfrm>
          <a:prstGeom prst="leftArrow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Inbox Action box"/>
          <p:cNvSpPr/>
          <p:nvPr/>
        </p:nvSpPr>
        <p:spPr>
          <a:xfrm>
            <a:off x="3200400" y="393192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3246120" y="39319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</a:rPr>
              <a:t>Candidate Details</a:t>
            </a:r>
            <a:endParaRPr lang="en-US" sz="1400" dirty="0"/>
          </a:p>
          <a:p>
            <a:pPr algn="ctr"/>
            <a:r>
              <a:rPr sz="1100">
                <a:solidFill>
                  <a:srgbClr val="FFFFFF"/>
                </a:solidFill>
                <a:latin typeface="Cambria"/>
              </a:rPr>
              <a:t>Matched / missing skills</a:t>
            </a:r>
          </a:p>
        </p:txBody>
      </p:sp>
      <p:sp>
        <p:nvSpPr>
          <p:cNvPr id="34" name="Shape 32"/>
          <p:cNvSpPr/>
          <p:nvPr/>
        </p:nvSpPr>
        <p:spPr>
          <a:xfrm>
            <a:off x="2871216" y="4325112"/>
            <a:ext cx="292608" cy="310896"/>
          </a:xfrm>
          <a:prstGeom prst="leftArrow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Feedback Loop box"/>
          <p:cNvSpPr/>
          <p:nvPr/>
        </p:nvSpPr>
        <p:spPr>
          <a:xfrm>
            <a:off x="1143000" y="393192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1188720" y="39319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</a:rPr>
              <a:t>CSV Export</a:t>
            </a:r>
            <a:endParaRPr lang="en-US" sz="1400" dirty="0"/>
          </a:p>
          <a:p>
            <a:pPr algn="ctr"/>
            <a:r>
              <a:rPr sz="1100">
                <a:solidFill>
                  <a:srgbClr val="FFFFFF"/>
                </a:solidFill>
                <a:latin typeface="Cambria"/>
              </a:rPr>
              <a:t>Download results</a:t>
            </a:r>
          </a:p>
        </p:txBody>
      </p:sp>
      <p:sp>
        <p:nvSpPr>
          <p:cNvPr id="37" name="Text 35"/>
          <p:cNvSpPr txBox="1"/>
          <p:nvPr/>
        </p:nvSpPr>
        <p:spPr>
          <a:xfrm>
            <a:off x="1188720" y="5257800"/>
            <a:ext cx="9811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500" i="1">
                <a:solidFill>
                  <a:srgbClr val="2B2B2B"/>
                </a:solidFill>
                <a:latin typeface="Cambria"/>
              </a:rPr>
              <a:t>Flow: User input → Flask validation → PDF text extraction → skill matching → score calculation → SQLite storage → dashboard and CSV export.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3C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tab"/>
          <p:cNvSpPr/>
          <p:nvPr/>
        </p:nvSpPr>
        <p:spPr>
          <a:xfrm>
            <a:off x="0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ight tab"/>
          <p:cNvSpPr/>
          <p:nvPr/>
        </p:nvSpPr>
        <p:spPr>
          <a:xfrm>
            <a:off x="11503152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Card"/>
          <p:cNvSpPr/>
          <p:nvPr/>
        </p:nvSpPr>
        <p:spPr>
          <a:xfrm>
            <a:off x="502920" y="411480"/>
            <a:ext cx="11183112" cy="6035040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Border"/>
          <p:cNvSpPr/>
          <p:nvPr/>
        </p:nvSpPr>
        <p:spPr>
          <a:xfrm>
            <a:off x="640080" y="548640"/>
            <a:ext cx="10908792" cy="5760720"/>
          </a:xfrm>
          <a:prstGeom prst="rect">
            <a:avLst/>
          </a:prstGeom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itle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3200" b="1">
                <a:solidFill>
                  <a:srgbClr val="D90000"/>
                </a:solidFill>
                <a:latin typeface="Cambria"/>
              </a:rPr>
              <a:t>Methodologies Used for Implementation (1/2)</a:t>
            </a:r>
            <a:endParaRPr lang="en-US" sz="3200" dirty="0"/>
          </a:p>
        </p:txBody>
      </p:sp>
      <p:sp>
        <p:nvSpPr>
          <p:cNvPr id="7" name="Title rule"/>
          <p:cNvSpPr/>
          <p:nvPr/>
        </p:nvSpPr>
        <p:spPr>
          <a:xfrm>
            <a:off x="1188720" y="1783080"/>
            <a:ext cx="9811512" cy="0"/>
          </a:xfrm>
          <a:prstGeom prst="line">
            <a:avLst/>
          </a:prstGeom>
          <a:noFill/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Data and preprocessing card"/>
          <p:cNvSpPr/>
          <p:nvPr/>
        </p:nvSpPr>
        <p:spPr>
          <a:xfrm>
            <a:off x="1188720" y="2057400"/>
            <a:ext cx="4800600" cy="4023360"/>
          </a:xfrm>
          <a:prstGeom prst="rect">
            <a:avLst/>
          </a:prstGeom>
          <a:solidFill>
            <a:srgbClr val="EEF3E0"/>
          </a:solidFill>
          <a:ln w="12700">
            <a:solidFill>
              <a:srgbClr val="EEF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417320" y="21945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200" b="1">
                <a:solidFill>
                  <a:srgbClr val="D90000"/>
                </a:solidFill>
                <a:latin typeface="Cambria"/>
              </a:rPr>
              <a:t>Input and preprocessing</a:t>
            </a:r>
            <a:endParaRPr lang="en-US" sz="2200" dirty="0"/>
          </a:p>
        </p:txBody>
      </p:sp>
      <p:sp>
        <p:nvSpPr>
          <p:cNvPr id="10" name="Data and preprocessing text"/>
          <p:cNvSpPr txBox="1"/>
          <p:nvPr/>
        </p:nvSpPr>
        <p:spPr>
          <a:xfrm>
            <a:off x="1417320" y="2743200"/>
            <a:ext cx="4343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900">
                <a:solidFill>
                  <a:srgbClr val="2B2B2B"/>
                </a:solidFill>
                <a:latin typeface="Cambria"/>
              </a:rPr>
              <a:t>Enter the job title and job description</a:t>
            </a:r>
            <a:endParaRPr lang="en-US" sz="1900" dirty="0"/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B2B2B"/>
                </a:solidFill>
                <a:latin typeface="Cambria"/>
              </a:rPr>
              <a:t>Upload PDF resumes (maximum 20 per batch)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B2B2B"/>
                </a:solidFill>
                <a:latin typeface="Cambria"/>
              </a:rPr>
              <a:t>Validate PDF file type, signature, and size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B2B2B"/>
                </a:solidFill>
                <a:latin typeface="Cambria"/>
              </a:rPr>
              <a:t>Extract readable text from PDF pages with pypdf</a:t>
            </a:r>
          </a:p>
        </p:txBody>
      </p:sp>
      <p:sp>
        <p:nvSpPr>
          <p:cNvPr id="11" name="Feature extraction card"/>
          <p:cNvSpPr/>
          <p:nvPr/>
        </p:nvSpPr>
        <p:spPr>
          <a:xfrm>
            <a:off x="6199632" y="2057400"/>
            <a:ext cx="4800600" cy="4023360"/>
          </a:xfrm>
          <a:prstGeom prst="rect">
            <a:avLst/>
          </a:prstGeom>
          <a:solidFill>
            <a:srgbClr val="EEF3E0"/>
          </a:solidFill>
          <a:ln w="12700">
            <a:solidFill>
              <a:srgbClr val="EEF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428232" y="21945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200" b="1">
                <a:solidFill>
                  <a:srgbClr val="D90000"/>
                </a:solidFill>
                <a:latin typeface="Cambria"/>
              </a:rPr>
              <a:t>Skill identification</a:t>
            </a:r>
            <a:endParaRPr lang="en-US" sz="2200" dirty="0"/>
          </a:p>
        </p:txBody>
      </p:sp>
      <p:sp>
        <p:nvSpPr>
          <p:cNvPr id="13" name="Feature extraction text"/>
          <p:cNvSpPr txBox="1"/>
          <p:nvPr/>
        </p:nvSpPr>
        <p:spPr>
          <a:xfrm>
            <a:off x="6428232" y="2743200"/>
            <a:ext cx="4343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900">
                <a:solidFill>
                  <a:srgbClr val="2B2B2B"/>
                </a:solidFill>
                <a:latin typeface="Cambria"/>
              </a:rPr>
              <a:t>Search text for recognized skills using keyword rules</a:t>
            </a:r>
            <a:endParaRPr lang="en-US" sz="1900" dirty="0"/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B2B2B"/>
                </a:solidFill>
                <a:latin typeface="Cambria"/>
              </a:rPr>
              <a:t>Use regular expressions for selected skill names and aliases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B2B2B"/>
                </a:solidFill>
                <a:latin typeface="Cambria"/>
              </a:rPr>
              <a:t>Compare resume skills with skills in the job description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B2B2B"/>
                </a:solidFill>
                <a:latin typeface="Cambria"/>
              </a:rPr>
              <a:t>Record matched and missing required skills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3C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tab"/>
          <p:cNvSpPr/>
          <p:nvPr/>
        </p:nvSpPr>
        <p:spPr>
          <a:xfrm>
            <a:off x="0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ight tab"/>
          <p:cNvSpPr/>
          <p:nvPr/>
        </p:nvSpPr>
        <p:spPr>
          <a:xfrm>
            <a:off x="11503152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Card"/>
          <p:cNvSpPr/>
          <p:nvPr/>
        </p:nvSpPr>
        <p:spPr>
          <a:xfrm>
            <a:off x="502920" y="411480"/>
            <a:ext cx="11183112" cy="6035040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Border"/>
          <p:cNvSpPr/>
          <p:nvPr/>
        </p:nvSpPr>
        <p:spPr>
          <a:xfrm>
            <a:off x="640080" y="548640"/>
            <a:ext cx="10908792" cy="5760720"/>
          </a:xfrm>
          <a:prstGeom prst="rect">
            <a:avLst/>
          </a:prstGeom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itle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3200" b="1">
                <a:solidFill>
                  <a:srgbClr val="D90000"/>
                </a:solidFill>
                <a:latin typeface="Cambria"/>
              </a:rPr>
              <a:t>Methodologies Used for Implementation (2/2)</a:t>
            </a:r>
            <a:endParaRPr lang="en-US" sz="3200" dirty="0"/>
          </a:p>
        </p:txBody>
      </p:sp>
      <p:sp>
        <p:nvSpPr>
          <p:cNvPr id="7" name="Title rule"/>
          <p:cNvSpPr/>
          <p:nvPr/>
        </p:nvSpPr>
        <p:spPr>
          <a:xfrm>
            <a:off x="1188720" y="1783080"/>
            <a:ext cx="9811512" cy="0"/>
          </a:xfrm>
          <a:prstGeom prst="line">
            <a:avLst/>
          </a:prstGeom>
          <a:noFill/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Models and evaluation card"/>
          <p:cNvSpPr/>
          <p:nvPr/>
        </p:nvSpPr>
        <p:spPr>
          <a:xfrm>
            <a:off x="1188720" y="2057400"/>
            <a:ext cx="4800600" cy="4023360"/>
          </a:xfrm>
          <a:prstGeom prst="rect">
            <a:avLst/>
          </a:prstGeom>
          <a:solidFill>
            <a:srgbClr val="EEF3E0"/>
          </a:solidFill>
          <a:ln w="12700">
            <a:solidFill>
              <a:srgbClr val="EEF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417320" y="21945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200" b="1">
                <a:solidFill>
                  <a:srgbClr val="D90000"/>
                </a:solidFill>
                <a:latin typeface="Cambria"/>
              </a:rPr>
              <a:t>Scoring and output</a:t>
            </a:r>
            <a:endParaRPr lang="en-US" sz="2200" dirty="0"/>
          </a:p>
        </p:txBody>
      </p:sp>
      <p:sp>
        <p:nvSpPr>
          <p:cNvPr id="10" name="Models and evaluation text"/>
          <p:cNvSpPr txBox="1"/>
          <p:nvPr/>
        </p:nvSpPr>
        <p:spPr>
          <a:xfrm>
            <a:off x="1417320" y="2743200"/>
            <a:ext cx="4343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800">
                <a:solidFill>
                  <a:srgbClr val="2B2B2B"/>
                </a:solidFill>
                <a:latin typeface="Cambria"/>
              </a:rPr>
              <a:t>Score = matched required skills ÷ recognized required skills × 100</a:t>
            </a:r>
            <a:endParaRPr lang="en-US" sz="1800" dirty="0"/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B2B2B"/>
                </a:solidFill>
                <a:latin typeface="Cambria"/>
              </a:rPr>
              <a:t>Store job and candidate information in SQLite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B2B2B"/>
                </a:solidFill>
                <a:latin typeface="Cambria"/>
              </a:rPr>
              <a:t>Display skills, scores, and candidate details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B2B2B"/>
                </a:solidFill>
                <a:latin typeface="Cambria"/>
              </a:rPr>
              <a:t>Export candidate records to CSV</a:t>
            </a:r>
          </a:p>
        </p:txBody>
      </p:sp>
      <p:sp>
        <p:nvSpPr>
          <p:cNvPr id="11" name="Deployment card"/>
          <p:cNvSpPr/>
          <p:nvPr/>
        </p:nvSpPr>
        <p:spPr>
          <a:xfrm>
            <a:off x="6199632" y="2057400"/>
            <a:ext cx="4800600" cy="4023360"/>
          </a:xfrm>
          <a:prstGeom prst="rect">
            <a:avLst/>
          </a:prstGeom>
          <a:solidFill>
            <a:srgbClr val="EEF3E0"/>
          </a:solidFill>
          <a:ln w="12700">
            <a:solidFill>
              <a:srgbClr val="EEF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428232" y="21945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200" b="1">
                <a:solidFill>
                  <a:srgbClr val="D90000"/>
                </a:solidFill>
                <a:latin typeface="Cambria"/>
              </a:rPr>
              <a:t>Limitations and future work</a:t>
            </a:r>
            <a:endParaRPr lang="en-US" sz="2200" dirty="0"/>
          </a:p>
        </p:txBody>
      </p:sp>
      <p:sp>
        <p:nvSpPr>
          <p:cNvPr id="13" name="Deployment text"/>
          <p:cNvSpPr txBox="1"/>
          <p:nvPr/>
        </p:nvSpPr>
        <p:spPr>
          <a:xfrm>
            <a:off x="6428232" y="2743200"/>
            <a:ext cx="4343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800">
                <a:solidFill>
                  <a:srgbClr val="2B2B2B"/>
                </a:solidFill>
                <a:latin typeface="Cambria"/>
              </a:rPr>
              <a:t>This version uses keyword rules, not a trained ML model</a:t>
            </a:r>
            <a:endParaRPr lang="en-US" sz="1800" dirty="0"/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B2B2B"/>
                </a:solidFill>
                <a:latin typeface="Cambria"/>
              </a:rPr>
              <a:t>Scanned PDFs need OCR; text-based PDFs are supported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B2B2B"/>
                </a:solidFill>
                <a:latin typeface="Cambria"/>
              </a:rPr>
              <a:t>The score is not a hiring recommendation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B2B2B"/>
                </a:solidFill>
                <a:latin typeface="Cambria"/>
              </a:rPr>
              <a:t>Future work: DOCX, OCR, better skill extraction, access control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3C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tab"/>
          <p:cNvSpPr/>
          <p:nvPr/>
        </p:nvSpPr>
        <p:spPr>
          <a:xfrm>
            <a:off x="0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ight tab"/>
          <p:cNvSpPr/>
          <p:nvPr/>
        </p:nvSpPr>
        <p:spPr>
          <a:xfrm>
            <a:off x="11503152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Card"/>
          <p:cNvSpPr/>
          <p:nvPr/>
        </p:nvSpPr>
        <p:spPr>
          <a:xfrm>
            <a:off x="502920" y="411480"/>
            <a:ext cx="11183112" cy="6035040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Border"/>
          <p:cNvSpPr/>
          <p:nvPr/>
        </p:nvSpPr>
        <p:spPr>
          <a:xfrm>
            <a:off x="640080" y="548640"/>
            <a:ext cx="10908792" cy="5760720"/>
          </a:xfrm>
          <a:prstGeom prst="rect">
            <a:avLst/>
          </a:prstGeom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itle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3800" b="1">
                <a:solidFill>
                  <a:srgbClr val="D90000"/>
                </a:solidFill>
                <a:latin typeface="Cambria"/>
              </a:rPr>
              <a:t>References</a:t>
            </a:r>
            <a:endParaRPr lang="en-US" sz="3800" dirty="0"/>
          </a:p>
        </p:txBody>
      </p:sp>
      <p:sp>
        <p:nvSpPr>
          <p:cNvPr id="7" name="Title rule"/>
          <p:cNvSpPr/>
          <p:nvPr/>
        </p:nvSpPr>
        <p:spPr>
          <a:xfrm>
            <a:off x="1188720" y="1783080"/>
            <a:ext cx="9811512" cy="0"/>
          </a:xfrm>
          <a:prstGeom prst="line">
            <a:avLst/>
          </a:prstGeom>
          <a:noFill/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188720" y="2011680"/>
            <a:ext cx="981151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sz="1700" dirty="0">
                <a:solidFill>
                  <a:srgbClr val="2B2B2B"/>
                </a:solidFill>
                <a:latin typeface="Cambria"/>
              </a:rPr>
              <a:t>Python Software Foundation. Python Documentation. </a:t>
            </a:r>
            <a:r>
              <a:rPr sz="1700" dirty="0">
                <a:solidFill>
                  <a:srgbClr val="2B2B2B"/>
                </a:solidFill>
                <a:latin typeface="Cambria"/>
                <a:hlinkClick r:id="rId3"/>
              </a:rPr>
              <a:t>https://docs.python.org/3/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sz="1700" dirty="0">
                <a:solidFill>
                  <a:srgbClr val="2B2B2B"/>
                </a:solidFill>
                <a:latin typeface="Cambria"/>
              </a:rPr>
              <a:t>Pallets Projects. Flask Documentation. </a:t>
            </a:r>
            <a:r>
              <a:rPr sz="1700" dirty="0">
                <a:solidFill>
                  <a:srgbClr val="2B2B2B"/>
                </a:solidFill>
                <a:latin typeface="Cambria"/>
                <a:hlinkClick r:id="rId4"/>
              </a:rPr>
              <a:t>https://flask.palletsprojects.com/</a:t>
            </a:r>
            <a:endParaRPr lang="en-IN" sz="1700" dirty="0">
              <a:solidFill>
                <a:srgbClr val="2B2B2B"/>
              </a:solidFill>
              <a:latin typeface="Cambria"/>
            </a:endParaRPr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sz="1700" dirty="0">
                <a:solidFill>
                  <a:srgbClr val="2B2B2B"/>
                </a:solidFill>
                <a:latin typeface="Cambria"/>
              </a:rPr>
              <a:t>SQLite. SQLite Documentation. </a:t>
            </a:r>
            <a:r>
              <a:rPr sz="1700" dirty="0">
                <a:solidFill>
                  <a:srgbClr val="2B2B2B"/>
                </a:solidFill>
                <a:latin typeface="Cambria"/>
                <a:hlinkClick r:id="rId5"/>
              </a:rPr>
              <a:t>https://www.sqlite.org/docs.html</a:t>
            </a:r>
            <a:endParaRPr lang="en-IN" sz="1700" dirty="0">
              <a:solidFill>
                <a:srgbClr val="2B2B2B"/>
              </a:solidFill>
              <a:latin typeface="Cambria"/>
            </a:endParaRPr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sz="1700" dirty="0" err="1">
                <a:solidFill>
                  <a:srgbClr val="2B2B2B"/>
                </a:solidFill>
                <a:latin typeface="Cambria"/>
              </a:rPr>
              <a:t>pypdf</a:t>
            </a:r>
            <a:r>
              <a:rPr sz="1700" dirty="0">
                <a:solidFill>
                  <a:srgbClr val="2B2B2B"/>
                </a:solidFill>
                <a:latin typeface="Cambria"/>
              </a:rPr>
              <a:t> contributors. </a:t>
            </a:r>
            <a:r>
              <a:rPr sz="1700" dirty="0" err="1">
                <a:solidFill>
                  <a:srgbClr val="2B2B2B"/>
                </a:solidFill>
                <a:latin typeface="Cambria"/>
              </a:rPr>
              <a:t>pypdf</a:t>
            </a:r>
            <a:r>
              <a:rPr sz="1700" dirty="0">
                <a:solidFill>
                  <a:srgbClr val="2B2B2B"/>
                </a:solidFill>
                <a:latin typeface="Cambria"/>
              </a:rPr>
              <a:t> Documentation. </a:t>
            </a:r>
            <a:r>
              <a:rPr sz="1700" dirty="0">
                <a:solidFill>
                  <a:srgbClr val="2B2B2B"/>
                </a:solidFill>
                <a:latin typeface="Cambria"/>
                <a:hlinkClick r:id="rId6"/>
              </a:rPr>
              <a:t>https://pypdf.readthedocs.io/</a:t>
            </a:r>
            <a:endParaRPr lang="en-IN" sz="1700" dirty="0">
              <a:solidFill>
                <a:srgbClr val="2B2B2B"/>
              </a:solidFill>
              <a:latin typeface="Cambria"/>
            </a:endParaRPr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sz="1700" dirty="0">
                <a:solidFill>
                  <a:srgbClr val="2B2B2B"/>
                </a:solidFill>
                <a:latin typeface="Cambria"/>
              </a:rPr>
              <a:t>MDN Web Docs. HTML, CSS and JavaScript. </a:t>
            </a:r>
            <a:r>
              <a:rPr sz="1700" dirty="0">
                <a:solidFill>
                  <a:srgbClr val="2B2B2B"/>
                </a:solidFill>
                <a:latin typeface="Cambria"/>
                <a:hlinkClick r:id="rId7"/>
              </a:rPr>
              <a:t>https://developer.mozilla.org/</a:t>
            </a:r>
            <a:endParaRPr lang="en-IN" sz="1700" dirty="0">
              <a:solidFill>
                <a:srgbClr val="2B2B2B"/>
              </a:solidFill>
              <a:latin typeface="Cambria"/>
            </a:endParaRPr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sz="1700" dirty="0">
                <a:solidFill>
                  <a:srgbClr val="2B2B2B"/>
                </a:solidFill>
                <a:latin typeface="Cambria"/>
              </a:rPr>
              <a:t>W3C. CSV on the Web: A Primer. https://www.w3.org/TR/tabular-data-primer/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3C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tab"/>
          <p:cNvSpPr/>
          <p:nvPr/>
        </p:nvSpPr>
        <p:spPr>
          <a:xfrm>
            <a:off x="0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ight tab"/>
          <p:cNvSpPr/>
          <p:nvPr/>
        </p:nvSpPr>
        <p:spPr>
          <a:xfrm>
            <a:off x="11503152" y="3154680"/>
            <a:ext cx="685800" cy="640080"/>
          </a:xfrm>
          <a:prstGeom prst="rect">
            <a:avLst/>
          </a:prstGeom>
          <a:solidFill>
            <a:srgbClr val="3A2E27"/>
          </a:solidFill>
          <a:ln w="12700">
            <a:solidFill>
              <a:srgbClr val="3A2E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Card"/>
          <p:cNvSpPr/>
          <p:nvPr/>
        </p:nvSpPr>
        <p:spPr>
          <a:xfrm>
            <a:off x="502920" y="411480"/>
            <a:ext cx="11183112" cy="6035040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Border"/>
          <p:cNvSpPr/>
          <p:nvPr/>
        </p:nvSpPr>
        <p:spPr>
          <a:xfrm>
            <a:off x="640080" y="548640"/>
            <a:ext cx="10908792" cy="5760720"/>
          </a:xfrm>
          <a:prstGeom prst="rect">
            <a:avLst/>
          </a:prstGeom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itle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3800" b="1">
                <a:solidFill>
                  <a:srgbClr val="D90000"/>
                </a:solidFill>
                <a:latin typeface="Cambria"/>
              </a:rPr>
              <a:t>Conclusion</a:t>
            </a:r>
            <a:endParaRPr lang="en-US" sz="3800" dirty="0"/>
          </a:p>
        </p:txBody>
      </p:sp>
      <p:sp>
        <p:nvSpPr>
          <p:cNvPr id="7" name="Title rule"/>
          <p:cNvSpPr/>
          <p:nvPr/>
        </p:nvSpPr>
        <p:spPr>
          <a:xfrm>
            <a:off x="1188720" y="1783080"/>
            <a:ext cx="9811512" cy="0"/>
          </a:xfrm>
          <a:prstGeom prst="line">
            <a:avLst/>
          </a:prstGeom>
          <a:noFill/>
          <a:ln w="12700">
            <a:solidFill>
              <a:srgbClr val="7C9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Body"/>
          <p:cNvSpPr txBox="1"/>
          <p:nvPr/>
        </p:nvSpPr>
        <p:spPr>
          <a:xfrm>
            <a:off x="1347339" y="2057400"/>
            <a:ext cx="981151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system organizes the initial screening of PDF resumes.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It extracts resume text and identifies candidate skills.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It compares skills with job requirements and displays a keyword-based score.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Candidate details are stored in SQLite, with options to view records and export CSV files.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It reduces repetitive manual work but does not use a trained AI model or make hiring decisions.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Future Enhancement: Add DOCX support, OCR for scanned resumes, better privacy controls, and advanced skill extraction</a:t>
            </a:r>
            <a:r>
              <a:rPr sz="2200" dirty="0">
                <a:solidFill>
                  <a:srgbClr val="2B2B2B"/>
                </a:solidFill>
                <a:latin typeface="Cambria"/>
              </a:rPr>
              <a:t>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D43DCB-40B6-6ADF-F33C-F6F5692D5AE4}"/>
              </a:ext>
            </a:extLst>
          </p:cNvPr>
          <p:cNvSpPr txBox="1"/>
          <p:nvPr/>
        </p:nvSpPr>
        <p:spPr>
          <a:xfrm>
            <a:off x="3872204" y="2202024"/>
            <a:ext cx="42360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94830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1166</Words>
  <Application>Microsoft Office PowerPoint</Application>
  <PresentationFormat>Widescreen</PresentationFormat>
  <Paragraphs>174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Email Spam Detection - Internship Review-1</dc:title>
  <dc:subject>PptxGenJS Presentation</dc:subject>
  <dc:creator>Student</dc:creator>
  <cp:lastModifiedBy>ANUSHA JUTURU</cp:lastModifiedBy>
  <cp:revision>3</cp:revision>
  <cp:lastPrinted>2026-10-22T15:06:11Z</cp:lastPrinted>
  <dcterms:created xsi:type="dcterms:W3CDTF">2026-10-21T05:39:19Z</dcterms:created>
  <dcterms:modified xsi:type="dcterms:W3CDTF">2026-10-22T15:06:46Z</dcterms:modified>
</cp:coreProperties>
</file>